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7" d="100"/>
          <a:sy n="37" d="100"/>
        </p:scale>
        <p:origin x="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AE39-87E7-48CF-84DF-A344463EAE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36468-2D96-48BE-8516-70FE8285C4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2793" y="182972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TELECOM CUSTOMER CHURN PREDICTION ANALYSIS</a:t>
            </a:r>
            <a:br>
              <a:rPr lang="en-US" b="1" dirty="0"/>
            </a:br>
            <a:br>
              <a:rPr lang="en-US" b="1" dirty="0"/>
            </a:br>
            <a:r>
              <a:rPr lang="en-US" sz="4400" b="1" dirty="0"/>
              <a:t>A machine learning pipeline for subscriber retention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05099"/>
            <a:ext cx="9144000" cy="1655762"/>
          </a:xfrm>
        </p:spPr>
        <p:txBody>
          <a:bodyPr/>
          <a:lstStyle/>
          <a:p>
            <a:r>
              <a:rPr lang="en-US" b="1" dirty="0"/>
              <a:t>TURYA JOHN STEVEN</a:t>
            </a:r>
          </a:p>
          <a:p>
            <a:r>
              <a:rPr lang="en-US" b="1" dirty="0"/>
              <a:t>2023-B071-21285</a:t>
            </a:r>
          </a:p>
          <a:p>
            <a:r>
              <a:rPr lang="en-US" b="1" dirty="0"/>
              <a:t>12</a:t>
            </a:r>
            <a:r>
              <a:rPr lang="en-US" b="1" baseline="30000" dirty="0"/>
              <a:t>th</a:t>
            </a:r>
            <a:r>
              <a:rPr lang="en-US" b="1" dirty="0"/>
              <a:t>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Problem statement.</a:t>
            </a:r>
            <a:endParaRPr lang="en-US" dirty="0"/>
          </a:p>
          <a:p>
            <a:pPr lvl="1"/>
            <a:r>
              <a:rPr lang="en-US" dirty="0"/>
              <a:t>A major East African telecom is experiencing rising churn rates among prepaid subscribers.</a:t>
            </a:r>
          </a:p>
          <a:p>
            <a:pPr lvl="1"/>
            <a:r>
              <a:rPr lang="en-US" dirty="0"/>
              <a:t>Retaining existing customers is more cost-effective than acquiring new ones.</a:t>
            </a:r>
          </a:p>
          <a:p>
            <a:r>
              <a:rPr lang="en-US" b="1" dirty="0"/>
              <a:t>Objective.</a:t>
            </a:r>
            <a:endParaRPr lang="en-US" dirty="0"/>
          </a:p>
          <a:p>
            <a:pPr lvl="1"/>
            <a:r>
              <a:rPr lang="en-US" dirty="0"/>
              <a:t>Develop a machine learning pipeline to predict customer churn.</a:t>
            </a:r>
          </a:p>
          <a:p>
            <a:pPr lvl="1"/>
            <a:r>
              <a:rPr lang="en-US" dirty="0"/>
              <a:t>Identify key factors driving customer attrition.</a:t>
            </a:r>
          </a:p>
          <a:p>
            <a:pPr lvl="1"/>
            <a:r>
              <a:rPr lang="en-US" dirty="0"/>
              <a:t>Create an interactive dashboard to visualize high-risk segments.</a:t>
            </a:r>
          </a:p>
          <a:p>
            <a:r>
              <a:rPr lang="en-US" b="1" dirty="0"/>
              <a:t>Dataset.</a:t>
            </a:r>
            <a:endParaRPr lang="en-US" dirty="0"/>
          </a:p>
          <a:p>
            <a:pPr lvl="1"/>
            <a:r>
              <a:rPr lang="en-US" dirty="0"/>
              <a:t>Source: Telco Customer Churn (Kaggle).</a:t>
            </a:r>
          </a:p>
          <a:p>
            <a:pPr lvl="1"/>
            <a:r>
              <a:rPr lang="en-US" dirty="0"/>
              <a:t>Features: Demographics, services, account information.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Methodology.</a:t>
            </a:r>
            <a:endParaRPr lang="en-US" dirty="0"/>
          </a:p>
          <a:p>
            <a:pPr lvl="1"/>
            <a:r>
              <a:rPr lang="en-US" b="1" dirty="0"/>
              <a:t>Data cleaning:</a:t>
            </a:r>
            <a:r>
              <a:rPr lang="en-US" dirty="0"/>
              <a:t> Handled missing values in the TotalCharges column (converted to numeric).</a:t>
            </a:r>
          </a:p>
          <a:p>
            <a:pPr lvl="1"/>
            <a:r>
              <a:rPr lang="en-US" b="1" dirty="0"/>
              <a:t>Encoding:</a:t>
            </a:r>
            <a:r>
              <a:rPr lang="en-US" dirty="0"/>
              <a:t> Applied One-Hot Encoding to categorical variables (e.g., Payment Method, Internet Service) to make them machine-readable.</a:t>
            </a:r>
          </a:p>
          <a:p>
            <a:pPr lvl="1"/>
            <a:r>
              <a:rPr lang="en-US" b="1" dirty="0"/>
              <a:t>Scaling:</a:t>
            </a:r>
            <a:r>
              <a:rPr lang="en-US" dirty="0"/>
              <a:t> Standardized numerical features (tenure, </a:t>
            </a:r>
            <a:r>
              <a:rPr lang="en-US" dirty="0" err="1"/>
              <a:t>MonthlyCharges</a:t>
            </a:r>
            <a:r>
              <a:rPr lang="en-US" dirty="0"/>
              <a:t>) using StandardScaler.</a:t>
            </a:r>
          </a:p>
          <a:p>
            <a:pPr lvl="1"/>
            <a:r>
              <a:rPr lang="en-US" b="1" dirty="0"/>
              <a:t>Target:</a:t>
            </a:r>
            <a:r>
              <a:rPr lang="en-US" dirty="0"/>
              <a:t> Converted Churn to binary (1 = Churn, 0 = No Churn).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NB:</a:t>
            </a:r>
            <a:r>
              <a:rPr lang="en-US" dirty="0"/>
              <a:t> Churn refers to the rate at which customers stop using the product or service over a given period of time.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 statistics for numerical features</a:t>
            </a:r>
          </a:p>
        </p:txBody>
      </p:sp>
      <p:pic>
        <p:nvPicPr>
          <p:cNvPr id="5" name="Content Placeholder 4" descr="A screenshot of a black board with numbers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6121" y="1520351"/>
            <a:ext cx="7768211" cy="4835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 (Distributions)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 descr="A comparison of a graph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214" y="1207697"/>
            <a:ext cx="11071687" cy="51318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EDA - Churn Drivers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Contract Influence.</a:t>
            </a:r>
            <a:endParaRPr lang="en-US" dirty="0"/>
          </a:p>
          <a:p>
            <a:pPr lvl="1"/>
            <a:r>
              <a:rPr lang="en-US" dirty="0"/>
              <a:t>Customers on month-to-month contracts have a significantly higher churn rate compared to one-year or two-year contracts.</a:t>
            </a:r>
          </a:p>
          <a:p>
            <a:r>
              <a:rPr lang="en-US" b="1" dirty="0"/>
              <a:t>Correlations.</a:t>
            </a:r>
            <a:endParaRPr lang="en-US" dirty="0"/>
          </a:p>
          <a:p>
            <a:pPr lvl="1"/>
            <a:r>
              <a:rPr lang="en-US" dirty="0"/>
              <a:t>Negative correlation between tenure and Churn (Longer stay = Lower risk).</a:t>
            </a:r>
          </a:p>
          <a:p>
            <a:pPr lvl="1"/>
            <a:r>
              <a:rPr lang="en-US" dirty="0"/>
              <a:t>Positive correlation between m</a:t>
            </a:r>
            <a:r>
              <a:rPr lang="en-US" dirty="0" err="1"/>
              <a:t>onthlyCharges</a:t>
            </a:r>
            <a:r>
              <a:rPr lang="en-US" dirty="0"/>
              <a:t> and Churn (Higher bills = Higher risk).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Churn count by contract type</a:t>
            </a:r>
            <a:endParaRPr lang="en-US" dirty="0"/>
          </a:p>
        </p:txBody>
      </p:sp>
      <p:pic>
        <p:nvPicPr>
          <p:cNvPr id="5" name="Content Placeholder 4" descr="A graph of a number of blue and green bars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5141" y="1464831"/>
            <a:ext cx="7963146" cy="5316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Correlation heatmap </a:t>
            </a:r>
          </a:p>
        </p:txBody>
      </p:sp>
      <p:pic>
        <p:nvPicPr>
          <p:cNvPr id="5" name="Content Placeholder 4" descr="A grid of red and blue squares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4413" y="1383162"/>
            <a:ext cx="5989367" cy="52638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Modeling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Models selected.</a:t>
            </a:r>
            <a:endParaRPr lang="en-US" dirty="0"/>
          </a:p>
          <a:p>
            <a:pPr lvl="1"/>
            <a:r>
              <a:rPr lang="en-US" dirty="0"/>
              <a:t>Logistic regression. Selected as a baseline for its interpretability.</a:t>
            </a:r>
          </a:p>
          <a:p>
            <a:pPr lvl="1"/>
            <a:r>
              <a:rPr lang="en-US" dirty="0"/>
              <a:t>Random forest classifier. Selected for its ability to handle complex, non-linear relationships and high accuracy.</a:t>
            </a:r>
          </a:p>
          <a:p>
            <a:r>
              <a:rPr lang="en-US" b="1" dirty="0"/>
              <a:t>Training process.</a:t>
            </a:r>
            <a:endParaRPr lang="en-US" dirty="0"/>
          </a:p>
          <a:p>
            <a:pPr lvl="1"/>
            <a:r>
              <a:rPr lang="en-US" dirty="0"/>
              <a:t>Data split. 80% Training / 20% Testing.</a:t>
            </a:r>
          </a:p>
          <a:p>
            <a:pPr lvl="1"/>
            <a:r>
              <a:rPr lang="en-US" dirty="0"/>
              <a:t>Features normalized to ensure fair weight distribution.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Evaluation &amp;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Performance Metrics:</a:t>
            </a:r>
            <a:endParaRPr lang="en-US" dirty="0"/>
          </a:p>
          <a:p>
            <a:pPr lvl="1"/>
            <a:r>
              <a:rPr lang="en-US" b="1" dirty="0"/>
              <a:t>Accuracy:</a:t>
            </a:r>
            <a:r>
              <a:rPr lang="en-US" dirty="0"/>
              <a:t> ~80% (Random Forest performed best).</a:t>
            </a:r>
          </a:p>
          <a:p>
            <a:pPr lvl="1"/>
            <a:r>
              <a:rPr lang="en-US" b="1" dirty="0"/>
              <a:t>Recall:</a:t>
            </a:r>
            <a:r>
              <a:rPr lang="en-US" dirty="0"/>
              <a:t> Crucial for identifying churners. The model successfully captures a significant portion of at-risk customers.</a:t>
            </a:r>
          </a:p>
          <a:p>
            <a:r>
              <a:rPr lang="en-US" b="1" dirty="0"/>
              <a:t>Confusion Matrix Insight:</a:t>
            </a:r>
            <a:endParaRPr lang="en-US" dirty="0"/>
          </a:p>
          <a:p>
            <a:pPr lvl="1"/>
            <a:r>
              <a:rPr lang="en-US" dirty="0"/>
              <a:t>Visualizes true positives (Churners correctly predicted) vs. false negatives (Churners missed).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Confusion matrix (logistic regression)</a:t>
            </a:r>
          </a:p>
        </p:txBody>
      </p:sp>
      <p:pic>
        <p:nvPicPr>
          <p:cNvPr id="5" name="Content Placeholder 4" descr="A graph with numbers and a number in blue squares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7352" y="1903367"/>
            <a:ext cx="5649494" cy="4769053"/>
          </a:xfrm>
          <a:prstGeom prst="rect">
            <a:avLst/>
          </a:prstGeom>
        </p:spPr>
      </p:pic>
      <p:pic>
        <p:nvPicPr>
          <p:cNvPr id="7" name="Picture 6" descr="A black screen with white tex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516" y="3013640"/>
            <a:ext cx="4563112" cy="1762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Confusion matrix (Random forest)</a:t>
            </a:r>
            <a:endParaRPr lang="en-US" dirty="0"/>
          </a:p>
        </p:txBody>
      </p:sp>
      <p:pic>
        <p:nvPicPr>
          <p:cNvPr id="5" name="Content Placeholder 4" descr="A graph with numbers and a number in a row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769"/>
            <a:ext cx="5528725" cy="4667106"/>
          </a:xfrm>
          <a:prstGeom prst="rect">
            <a:avLst/>
          </a:prstGeom>
        </p:spPr>
      </p:pic>
      <p:pic>
        <p:nvPicPr>
          <p:cNvPr id="7" name="Picture 6" descr="A screen shot of a black background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706" y="3099268"/>
            <a:ext cx="3829584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 Importance (Key Drivers)</a:t>
            </a:r>
            <a:endParaRPr lang="en-US" dirty="0"/>
          </a:p>
        </p:txBody>
      </p:sp>
      <p:pic>
        <p:nvPicPr>
          <p:cNvPr id="5" name="Content Placeholder 4" descr="A graph with different colored bars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6491"/>
            <a:ext cx="9813854" cy="50263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Dashboard (Power BI)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4712" y="1399487"/>
            <a:ext cx="9006599" cy="50933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Recommendations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Strategic recommendations.</a:t>
            </a:r>
            <a:endParaRPr lang="en-US" dirty="0"/>
          </a:p>
          <a:p>
            <a:pPr lvl="1"/>
            <a:r>
              <a:rPr lang="en-US" b="1" dirty="0"/>
              <a:t>Contract migration.</a:t>
            </a:r>
            <a:r>
              <a:rPr lang="en-US" dirty="0"/>
              <a:t> Encourage month-to-month users to switch to 1-Year contracts (e.g., offer a discount).</a:t>
            </a:r>
          </a:p>
          <a:p>
            <a:pPr lvl="1"/>
            <a:r>
              <a:rPr lang="en-US" b="1" dirty="0"/>
              <a:t>Payment method.</a:t>
            </a:r>
            <a:r>
              <a:rPr lang="en-US" dirty="0"/>
              <a:t> Investigate user experience issues with "Electronic Check" or offer auto-pay discounts for credit cards.</a:t>
            </a:r>
          </a:p>
          <a:p>
            <a:pPr lvl="1"/>
            <a:r>
              <a:rPr lang="en-US" b="1" dirty="0"/>
              <a:t>Targeted campaign.</a:t>
            </a:r>
            <a:r>
              <a:rPr lang="en-US" dirty="0"/>
              <a:t> The marketing team should immediately contact the 1,356 High-Risk customers identified in the dashboard.</a:t>
            </a:r>
          </a:p>
          <a:p>
            <a:pPr lvl="1"/>
            <a:r>
              <a:rPr lang="en-US" b="1" dirty="0"/>
              <a:t>Service quality.</a:t>
            </a:r>
            <a:r>
              <a:rPr lang="en-US" dirty="0"/>
              <a:t> Review Fiber Optic infrastructure in East Africa, as these users churn frequently.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481</Words>
  <Application>Microsoft Office PowerPoint</Application>
  <PresentationFormat>Widescreen</PresentationFormat>
  <Paragraphs>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TELECOM CUSTOMER CHURN PREDICTION ANALYSIS  A machine learning pipeline for subscriber retention strategies</vt:lpstr>
      <vt:lpstr>Project overview</vt:lpstr>
      <vt:lpstr>Data preprocessing</vt:lpstr>
      <vt:lpstr>Summary statistics for numerical features</vt:lpstr>
      <vt:lpstr>Exploratory Data Analysis (Distributions) </vt:lpstr>
      <vt:lpstr>EDA - Churn Drivers</vt:lpstr>
      <vt:lpstr>Churn count by contract type</vt:lpstr>
      <vt:lpstr>Correlation heatmap </vt:lpstr>
      <vt:lpstr>Modeling Strategy</vt:lpstr>
      <vt:lpstr>Model Evaluation &amp; Results</vt:lpstr>
      <vt:lpstr>Confusion matrix (logistic regression)</vt:lpstr>
      <vt:lpstr>Confusion matrix (Random forest)</vt:lpstr>
      <vt:lpstr>Feature Importance (Key Drivers)</vt:lpstr>
      <vt:lpstr>Dashboard (Power BI)</vt:lpstr>
      <vt:lpstr>Recommendations and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STEVEN</dc:creator>
  <cp:lastModifiedBy>JOHN STEVEN</cp:lastModifiedBy>
  <cp:revision>7</cp:revision>
  <dcterms:created xsi:type="dcterms:W3CDTF">2025-12-12T05:46:00Z</dcterms:created>
  <dcterms:modified xsi:type="dcterms:W3CDTF">2025-12-15T04:30:21Z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C30609C1B34F450289EE37C8CCF3DFBF_12</vt:lpwstr>
  </property>
  <property fmtid="{D5CDD505-2E9C-101B-9397-08002B2CF9AE}" pid="3" name="KSOProductBuildVer">
    <vt:lpwstr>1033-12.2.0.23155</vt:lpwstr>
  </property>
</Properties>
</file>