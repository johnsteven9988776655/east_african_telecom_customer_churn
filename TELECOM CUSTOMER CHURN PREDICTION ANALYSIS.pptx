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4" r:id="rId7"/>
    <p:sldId id="261" r:id="rId8"/>
    <p:sldId id="262" r:id="rId9"/>
    <p:sldId id="263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7BC75-2869-3CA4-D00A-BC28897556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24F066-D712-3F85-B474-13052336B3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46E6F-1AA2-B4FF-5EBB-B9FE1EE71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AE39-87E7-48CF-84DF-A344463EAE7B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9C767-EB35-6B18-96B1-38DECF4883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F1023C-561A-B0F1-DC5D-D12F690B8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436468-2D96-48BE-8516-70FE8285C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3916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E50EA-9DEF-EBA5-2685-979F5104A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750D3F-8AD1-71BC-719B-B9B349AF9E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2D96E7-0FBB-DF2C-CA84-D3872BABC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AE39-87E7-48CF-84DF-A344463EAE7B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20A06C-9AF8-F784-E1FE-A82AEBBEB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052B27-D7E0-F78C-394A-84DA7F0FB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436468-2D96-48BE-8516-70FE8285C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8590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6B6E6-5481-B20B-9F0D-CDD790E9E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C5DB9D-96F6-1925-8FF2-47872C1BAE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5DE267-FF4E-29FD-44E4-EA8DCA6B0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AE39-87E7-48CF-84DF-A344463EAE7B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387E6B-DC12-EDB3-DB08-6F37E721FD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CCC757-896A-3465-9486-A8E5A64D4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436468-2D96-48BE-8516-70FE8285C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9678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327C51-4761-015A-55D9-A3B784899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21E853-3ADB-FF64-FCB7-705EABFB2B9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2AAE07-B4D4-EC7D-2E74-3071EC8FBB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DBF419-66BE-DA22-EFC3-AE75CDB32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AE39-87E7-48CF-84DF-A344463EAE7B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36FF21-B528-2337-26B2-EFA049487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F40F92-C195-C726-A28E-2E9FB9E2A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436468-2D96-48BE-8516-70FE8285C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754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1DB28-FB70-6F33-AAD2-BE44A8EF4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F857EB-1FF9-5106-6253-1C854DB339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8CCFAE-BDC8-C88A-8FD4-B6C57A2443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CC7CC6-EDD0-CFA1-3DDC-ACB12BB409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B41A2EA-8AEF-4574-E055-20D5A12D90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8098F06-84DA-D02D-E5B3-C5B42E588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AE39-87E7-48CF-84DF-A344463EAE7B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6CC77F-45E0-D6ED-8E61-CB1809AA7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71F5F3A-34E2-B57D-0A0B-AF5A458E9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436468-2D96-48BE-8516-70FE8285C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3955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20784-ABCB-9BD1-3956-1DC6FD6F2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E7A5C3-63B4-FF28-2DB0-A61DEDDBED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AE39-87E7-48CF-84DF-A344463EAE7B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15313F-1D15-70AA-1573-B0E8ECE0E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314D4C-E73F-267F-65A6-DA0DDEF31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436468-2D96-48BE-8516-70FE8285C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6078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FFE4CE-88D2-0D5D-F21D-4F8EF8072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AE39-87E7-48CF-84DF-A344463EAE7B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F810A0E-295F-CD7C-E759-4C7381163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EECE3B-B905-B883-1054-3DE6F76F8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436468-2D96-48BE-8516-70FE8285C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6914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15E31-1A37-B5CA-CB49-7C51CB2FB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22147C-217D-E673-B46D-87D22093F8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AA3B54-7B37-158D-859D-BEC67DAE95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3A5C18-88DF-EDB9-1027-D9D78117C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AE39-87E7-48CF-84DF-A344463EAE7B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8715AD-000B-298A-4B7A-34B2303297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8FADEE-2BE4-F1C1-A6CA-15935219F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436468-2D96-48BE-8516-70FE8285C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75833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7AD95-2882-FB4D-C736-2E2C20DAE1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28C445F-E8F3-98DA-1BD8-0E695C24E75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B6D1BB-1298-EBF8-0BC4-B8CEA44953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221936-90B0-B296-7C60-C23F7886E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AE39-87E7-48CF-84DF-A344463EAE7B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5D3A26-1AE4-0EDE-2CDF-5E6E708D5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F06F49-5995-F721-E0BE-9D10CB0AD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436468-2D96-48BE-8516-70FE8285C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441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13644-CC25-3884-E253-EEAA6DBED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ABF7BA-0C79-77F9-EB93-077986BCFB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9966C1-D143-B3AA-B746-7A2393FE0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AE39-87E7-48CF-84DF-A344463EAE7B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9B2340-6996-FF93-0F51-44888B1896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29DABB-CBCF-EDDE-06FF-BE23296AC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436468-2D96-48BE-8516-70FE8285C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564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7B468C-8D0C-D936-6F77-59D36A786F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3B802B-5674-B652-2E41-DB33AC3240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F10CBB-1AF7-D142-BF6A-F8393A55E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AE39-87E7-48CF-84DF-A344463EAE7B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D86014-40F9-6D33-54AE-C777F6787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59320E-4BD5-55AB-8560-07385A929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436468-2D96-48BE-8516-70FE8285C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7438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67D315-46F8-0049-8758-72B360B895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FD9D13-46F0-8151-69B0-FCFAF419D1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EAECBE-9648-C593-6322-8E98ECBC12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ACAE39-87E7-48CF-84DF-A344463EAE7B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4BDEC8-F61D-013E-F1D8-6F963B8F84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6A4DC3-7CEF-A130-F372-6544402323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436468-2D96-48BE-8516-70FE8285C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4157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7E49F-D020-1684-936A-4DCE748362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82793" y="1829729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TELECOM CUSTOMER CHURN PREDICTION ANALYSIS</a:t>
            </a:r>
            <a:br>
              <a:rPr lang="en-US" b="1" dirty="0"/>
            </a:br>
            <a:br>
              <a:rPr lang="en-US" b="1" dirty="0"/>
            </a:br>
            <a:r>
              <a:rPr lang="en-US" sz="4400" b="1" dirty="0"/>
              <a:t>A machine learning pipeline for subscriber retention strategies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13D661-C450-2529-683A-CBFB5F3D50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605099"/>
            <a:ext cx="9144000" cy="1655762"/>
          </a:xfrm>
        </p:spPr>
        <p:txBody>
          <a:bodyPr/>
          <a:lstStyle/>
          <a:p>
            <a:r>
              <a:rPr lang="en-US" b="1" dirty="0"/>
              <a:t>TURYA JOHN STEVEN</a:t>
            </a:r>
          </a:p>
          <a:p>
            <a:r>
              <a:rPr lang="en-US" b="1" dirty="0"/>
              <a:t>2023-B071-21285</a:t>
            </a:r>
          </a:p>
          <a:p>
            <a:r>
              <a:rPr lang="en-US" b="1" dirty="0"/>
              <a:t>12</a:t>
            </a:r>
            <a:r>
              <a:rPr lang="en-US" b="1" baseline="30000" dirty="0"/>
              <a:t>th</a:t>
            </a:r>
            <a:r>
              <a:rPr lang="en-US" b="1" dirty="0"/>
              <a:t> DECEMBER 2025</a:t>
            </a:r>
          </a:p>
        </p:txBody>
      </p:sp>
    </p:spTree>
    <p:extLst>
      <p:ext uri="{BB962C8B-B14F-4D97-AF65-F5344CB8AC3E}">
        <p14:creationId xmlns:p14="http://schemas.microsoft.com/office/powerpoint/2010/main" val="33460105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3AC8E-AF28-C344-F6F2-4CD28730F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Project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A8D0E9-C9C0-18CD-D49E-7F70300DE5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Problem statement.</a:t>
            </a:r>
            <a:endParaRPr lang="en-US" dirty="0"/>
          </a:p>
          <a:p>
            <a:pPr lvl="1"/>
            <a:r>
              <a:rPr lang="en-US" dirty="0"/>
              <a:t>A major East African telecom is experiencing rising churn rates among prepaid subscribers.</a:t>
            </a:r>
          </a:p>
          <a:p>
            <a:pPr lvl="1"/>
            <a:r>
              <a:rPr lang="en-US" dirty="0"/>
              <a:t>Retaining existing customers is more cost-effective than acquiring new ones.</a:t>
            </a:r>
          </a:p>
          <a:p>
            <a:r>
              <a:rPr lang="en-US" b="1" dirty="0"/>
              <a:t>Objective.</a:t>
            </a:r>
            <a:endParaRPr lang="en-US" dirty="0"/>
          </a:p>
          <a:p>
            <a:pPr lvl="1"/>
            <a:r>
              <a:rPr lang="en-US" dirty="0"/>
              <a:t>Develop a machine learning pipeline to predict customer churn.</a:t>
            </a:r>
          </a:p>
          <a:p>
            <a:pPr lvl="1"/>
            <a:r>
              <a:rPr lang="en-US" dirty="0"/>
              <a:t>Identify key factors driving customer attrition.</a:t>
            </a:r>
          </a:p>
          <a:p>
            <a:pPr lvl="1"/>
            <a:r>
              <a:rPr lang="en-US" dirty="0"/>
              <a:t>Create an interactive dashboard to visualize high-risk segments.</a:t>
            </a:r>
          </a:p>
          <a:p>
            <a:r>
              <a:rPr lang="en-US" b="1" dirty="0"/>
              <a:t>Dataset.</a:t>
            </a:r>
            <a:endParaRPr lang="en-US" dirty="0"/>
          </a:p>
          <a:p>
            <a:pPr lvl="1"/>
            <a:r>
              <a:rPr lang="en-US" dirty="0"/>
              <a:t>Source: Telco Customer Churn (Kaggle).</a:t>
            </a:r>
          </a:p>
          <a:p>
            <a:pPr lvl="1"/>
            <a:r>
              <a:rPr lang="en-US" dirty="0"/>
              <a:t>Features: Demographics, services, account information.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23951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783E3-B786-7DEE-F809-D2AEE179F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Data preprocessing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BAA05C-4B63-357E-5312-72E7190877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Methodology.</a:t>
            </a:r>
            <a:endParaRPr lang="en-US" dirty="0"/>
          </a:p>
          <a:p>
            <a:pPr lvl="1"/>
            <a:r>
              <a:rPr lang="en-US" b="1" dirty="0"/>
              <a:t>Data cleaning:</a:t>
            </a:r>
            <a:r>
              <a:rPr lang="en-US" dirty="0"/>
              <a:t> Handled missing values in the </a:t>
            </a:r>
            <a:r>
              <a:rPr lang="en-US" dirty="0" err="1"/>
              <a:t>TotalCharges</a:t>
            </a:r>
            <a:r>
              <a:rPr lang="en-US" dirty="0"/>
              <a:t> column (converted to numeric).</a:t>
            </a:r>
          </a:p>
          <a:p>
            <a:pPr lvl="1"/>
            <a:r>
              <a:rPr lang="en-US" b="1" dirty="0"/>
              <a:t>Encoding:</a:t>
            </a:r>
            <a:r>
              <a:rPr lang="en-US" dirty="0"/>
              <a:t> Applied One-Hot Encoding to categorical variables (e.g., Payment Method, Internet Service) to make them machine-readable.</a:t>
            </a:r>
          </a:p>
          <a:p>
            <a:pPr lvl="1"/>
            <a:r>
              <a:rPr lang="en-US" b="1" dirty="0"/>
              <a:t>Scaling:</a:t>
            </a:r>
            <a:r>
              <a:rPr lang="en-US" dirty="0"/>
              <a:t> Standardized numerical features (tenure, </a:t>
            </a:r>
            <a:r>
              <a:rPr lang="en-US" dirty="0" err="1"/>
              <a:t>MonthlyCharges</a:t>
            </a:r>
            <a:r>
              <a:rPr lang="en-US" dirty="0"/>
              <a:t>) using </a:t>
            </a:r>
            <a:r>
              <a:rPr lang="en-US" dirty="0" err="1"/>
              <a:t>StandardScaler</a:t>
            </a:r>
            <a:r>
              <a:rPr lang="en-US" dirty="0"/>
              <a:t>.</a:t>
            </a:r>
          </a:p>
          <a:p>
            <a:pPr lvl="1"/>
            <a:r>
              <a:rPr lang="en-US" b="1" dirty="0"/>
              <a:t>Target:</a:t>
            </a:r>
            <a:r>
              <a:rPr lang="en-US" dirty="0"/>
              <a:t> Converted Churn to binary (1 = Churn, 0 = No Churn).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24114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40F48-E9B6-9D9A-A791-44B2CA9E12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Summary statistics for numerical features</a:t>
            </a:r>
          </a:p>
        </p:txBody>
      </p:sp>
      <p:pic>
        <p:nvPicPr>
          <p:cNvPr id="5" name="Content Placeholder 4" descr="A screenshot of a black board with numbers&#10;&#10;AI-generated content may be incorrect.">
            <a:extLst>
              <a:ext uri="{FF2B5EF4-FFF2-40B4-BE49-F238E27FC236}">
                <a16:creationId xmlns:a16="http://schemas.microsoft.com/office/drawing/2014/main" id="{A1B37A04-5EAA-AAA0-A2B9-B8C1448B55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76121" y="1520351"/>
            <a:ext cx="7768211" cy="4835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5322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11FA4-06A5-964F-F200-0ED3908EA7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Exploratory Data Analysis (Distributions)</a:t>
            </a:r>
            <a:br>
              <a:rPr lang="en-US" b="1" dirty="0"/>
            </a:br>
            <a:endParaRPr lang="en-US" dirty="0"/>
          </a:p>
        </p:txBody>
      </p:sp>
      <p:pic>
        <p:nvPicPr>
          <p:cNvPr id="5" name="Content Placeholder 4" descr="A comparison of a graph&#10;&#10;AI-generated content may be incorrect.">
            <a:extLst>
              <a:ext uri="{FF2B5EF4-FFF2-40B4-BE49-F238E27FC236}">
                <a16:creationId xmlns:a16="http://schemas.microsoft.com/office/drawing/2014/main" id="{C0198994-3567-43AE-24DF-91E5ADD06C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2214" y="1207697"/>
            <a:ext cx="11071687" cy="513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95940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A0DA0-CC4E-0787-7C88-2F6F481ED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EDA - Churn Drivers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84B05-3A51-AB63-3880-319925851E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Contract Influence.</a:t>
            </a:r>
            <a:endParaRPr lang="en-US" dirty="0"/>
          </a:p>
          <a:p>
            <a:pPr lvl="1"/>
            <a:r>
              <a:rPr lang="en-US" dirty="0"/>
              <a:t>Customers on month-to-month contracts have a drastically higher churn rate compared to One-year or Two-year contracts.</a:t>
            </a:r>
          </a:p>
          <a:p>
            <a:r>
              <a:rPr lang="en-US" b="1" dirty="0"/>
              <a:t>Correlations.</a:t>
            </a:r>
            <a:endParaRPr lang="en-US" dirty="0"/>
          </a:p>
          <a:p>
            <a:pPr lvl="1"/>
            <a:r>
              <a:rPr lang="en-US" dirty="0"/>
              <a:t>Negative correlation between tenure and Churn (Longer stay = Lower risk).</a:t>
            </a:r>
          </a:p>
          <a:p>
            <a:pPr lvl="1"/>
            <a:r>
              <a:rPr lang="en-US" dirty="0"/>
              <a:t>Positive correlation between </a:t>
            </a:r>
            <a:r>
              <a:rPr lang="en-US" dirty="0" err="1"/>
              <a:t>MonthlyCharges</a:t>
            </a:r>
            <a:r>
              <a:rPr lang="en-US" dirty="0"/>
              <a:t> and Churn (Higher bills = Higher risk).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13821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EC7DC-35E5-FBCD-9B07-2855F46C9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Churn count by contract type</a:t>
            </a:r>
            <a:endParaRPr lang="en-US" dirty="0"/>
          </a:p>
        </p:txBody>
      </p:sp>
      <p:pic>
        <p:nvPicPr>
          <p:cNvPr id="5" name="Content Placeholder 4" descr="A graph of a number of blue and green bars&#10;&#10;AI-generated content may be incorrect.">
            <a:extLst>
              <a:ext uri="{FF2B5EF4-FFF2-40B4-BE49-F238E27FC236}">
                <a16:creationId xmlns:a16="http://schemas.microsoft.com/office/drawing/2014/main" id="{C6235E25-AB73-98D7-EDA3-439CF37C04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05141" y="1464831"/>
            <a:ext cx="7963146" cy="5316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0038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C2FE2-BBAD-461D-C43F-1E64D94A1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Correlation heatmap </a:t>
            </a:r>
          </a:p>
        </p:txBody>
      </p:sp>
      <p:pic>
        <p:nvPicPr>
          <p:cNvPr id="5" name="Content Placeholder 4" descr="A grid of red and blue squares&#10;&#10;AI-generated content may be incorrect.">
            <a:extLst>
              <a:ext uri="{FF2B5EF4-FFF2-40B4-BE49-F238E27FC236}">
                <a16:creationId xmlns:a16="http://schemas.microsoft.com/office/drawing/2014/main" id="{34778AA7-06E6-76E6-DCA1-A376EC1EE2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44413" y="1383162"/>
            <a:ext cx="5989367" cy="5263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24349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A6714-0B3B-5BEA-692B-108359CB3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Modeling Strategy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A3C955-89EF-BDBA-B923-F460371771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Models selected.</a:t>
            </a:r>
            <a:endParaRPr lang="en-US" dirty="0"/>
          </a:p>
          <a:p>
            <a:pPr lvl="1"/>
            <a:r>
              <a:rPr lang="en-US" dirty="0"/>
              <a:t>Logistic regression. Selected as a baseline for its interpretability.</a:t>
            </a:r>
          </a:p>
          <a:p>
            <a:pPr lvl="1"/>
            <a:r>
              <a:rPr lang="en-US" dirty="0"/>
              <a:t>Random forest classifier. Selected for its ability to handle complex, non-linear relationships and high accuracy.</a:t>
            </a:r>
          </a:p>
          <a:p>
            <a:r>
              <a:rPr lang="en-US" b="1" dirty="0"/>
              <a:t>Training process.</a:t>
            </a:r>
            <a:endParaRPr lang="en-US" dirty="0"/>
          </a:p>
          <a:p>
            <a:pPr lvl="1"/>
            <a:r>
              <a:rPr lang="en-US" dirty="0"/>
              <a:t>Data split. 80% Training / 20% Testing.</a:t>
            </a:r>
          </a:p>
          <a:p>
            <a:pPr lvl="1"/>
            <a:r>
              <a:rPr lang="en-US" dirty="0"/>
              <a:t>Features normalized to ensure fair weight distribution.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43614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DBE7E-4CB0-F14C-AA24-88356FBC1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Model Evaluation &amp; Results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5CA88E-B42D-6301-DDA0-22BB8C9DD7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Performance Metrics:</a:t>
            </a:r>
            <a:endParaRPr lang="en-US" dirty="0"/>
          </a:p>
          <a:p>
            <a:pPr lvl="1"/>
            <a:r>
              <a:rPr lang="en-US" b="1" dirty="0"/>
              <a:t>Accuracy:</a:t>
            </a:r>
            <a:r>
              <a:rPr lang="en-US" dirty="0"/>
              <a:t> ~80% (Random Forest performed best).</a:t>
            </a:r>
          </a:p>
          <a:p>
            <a:pPr lvl="1"/>
            <a:r>
              <a:rPr lang="en-US" b="1" dirty="0"/>
              <a:t>Recall:</a:t>
            </a:r>
            <a:r>
              <a:rPr lang="en-US" dirty="0"/>
              <a:t> Crucial for identifying churners. The model successfully captures a significant portion of at-risk customers.</a:t>
            </a:r>
          </a:p>
          <a:p>
            <a:r>
              <a:rPr lang="en-US" b="1" dirty="0"/>
              <a:t>Confusion Matrix Insight:</a:t>
            </a:r>
            <a:endParaRPr lang="en-US" dirty="0"/>
          </a:p>
          <a:p>
            <a:pPr lvl="1"/>
            <a:r>
              <a:rPr lang="en-US" dirty="0"/>
              <a:t>Visualizes True Positives (Churners correctly predicted) vs. False Negatives (Churners missed).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73168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9765E-0A5A-C881-2775-9CA8255B8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Confusion matrix (logistic regression)</a:t>
            </a:r>
          </a:p>
        </p:txBody>
      </p:sp>
      <p:pic>
        <p:nvPicPr>
          <p:cNvPr id="5" name="Content Placeholder 4" descr="A graph with numbers and a number in blue squares&#10;&#10;AI-generated content may be incorrect.">
            <a:extLst>
              <a:ext uri="{FF2B5EF4-FFF2-40B4-BE49-F238E27FC236}">
                <a16:creationId xmlns:a16="http://schemas.microsoft.com/office/drawing/2014/main" id="{0135B528-A6EF-EE68-995C-B5A75AB828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7352" y="1903367"/>
            <a:ext cx="5649494" cy="4769053"/>
          </a:xfrm>
          <a:prstGeom prst="rect">
            <a:avLst/>
          </a:prstGeom>
        </p:spPr>
      </p:pic>
      <p:pic>
        <p:nvPicPr>
          <p:cNvPr id="7" name="Picture 6" descr="A black screen with white text&#10;&#10;AI-generated content may be incorrect.">
            <a:extLst>
              <a:ext uri="{FF2B5EF4-FFF2-40B4-BE49-F238E27FC236}">
                <a16:creationId xmlns:a16="http://schemas.microsoft.com/office/drawing/2014/main" id="{B9CBE076-B42A-906B-F0D8-A7F8CCF407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9516" y="3013640"/>
            <a:ext cx="4563112" cy="1762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21386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321BA-9E25-AAB2-51AB-908F7F374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Confusion matrix (Random forest)</a:t>
            </a:r>
            <a:endParaRPr lang="en-US" dirty="0"/>
          </a:p>
        </p:txBody>
      </p:sp>
      <p:pic>
        <p:nvPicPr>
          <p:cNvPr id="5" name="Content Placeholder 4" descr="A graph with numbers and a number in a row&#10;&#10;AI-generated content may be incorrect.">
            <a:extLst>
              <a:ext uri="{FF2B5EF4-FFF2-40B4-BE49-F238E27FC236}">
                <a16:creationId xmlns:a16="http://schemas.microsoft.com/office/drawing/2014/main" id="{4014A90E-4200-928B-9585-2ABFB99B7C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25769"/>
            <a:ext cx="5528725" cy="4667106"/>
          </a:xfrm>
          <a:prstGeom prst="rect">
            <a:avLst/>
          </a:prstGeom>
        </p:spPr>
      </p:pic>
      <p:pic>
        <p:nvPicPr>
          <p:cNvPr id="7" name="Picture 6" descr="A screen shot of a black background&#10;&#10;AI-generated content may be incorrect.">
            <a:extLst>
              <a:ext uri="{FF2B5EF4-FFF2-40B4-BE49-F238E27FC236}">
                <a16:creationId xmlns:a16="http://schemas.microsoft.com/office/drawing/2014/main" id="{B5B34CF5-51B5-74FE-20CA-FD85EF9585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7706" y="3099268"/>
            <a:ext cx="3829584" cy="1867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44272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00272-00AF-228B-DAAC-19672F233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Feature Importance (Key Drivers)</a:t>
            </a:r>
            <a:endParaRPr lang="en-US" dirty="0"/>
          </a:p>
        </p:txBody>
      </p:sp>
      <p:pic>
        <p:nvPicPr>
          <p:cNvPr id="5" name="Content Placeholder 4" descr="A graph with different colored bars&#10;&#10;AI-generated content may be incorrect.">
            <a:extLst>
              <a:ext uri="{FF2B5EF4-FFF2-40B4-BE49-F238E27FC236}">
                <a16:creationId xmlns:a16="http://schemas.microsoft.com/office/drawing/2014/main" id="{768BF758-676F-B1F7-06AB-BED0E69013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466491"/>
            <a:ext cx="9813854" cy="5026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1193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C5395-BF90-B243-3FF6-73B0E58AC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Dashboard (Power BI)</a:t>
            </a:r>
            <a:endParaRPr lang="en-US" dirty="0"/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09504C6-79E5-3F4D-F6E0-4FCD6B0CD6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34712" y="1399487"/>
            <a:ext cx="9006599" cy="5093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3589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387B5-01BF-E95B-5B1C-D4552ED84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Recommendations and Conclusion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625713-EDF0-4E80-B372-A673353DF8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Strategic recommendations.</a:t>
            </a:r>
            <a:endParaRPr lang="en-US" dirty="0"/>
          </a:p>
          <a:p>
            <a:pPr lvl="1"/>
            <a:r>
              <a:rPr lang="en-US" b="1" dirty="0"/>
              <a:t>Contract migration.</a:t>
            </a:r>
            <a:r>
              <a:rPr lang="en-US" dirty="0"/>
              <a:t> Incentivize Month-to-month users to switch to 1-Year contracts (e.g., offer a discount).</a:t>
            </a:r>
          </a:p>
          <a:p>
            <a:pPr lvl="1"/>
            <a:r>
              <a:rPr lang="en-US" b="1" dirty="0"/>
              <a:t>Payment method.</a:t>
            </a:r>
            <a:r>
              <a:rPr lang="en-US" dirty="0"/>
              <a:t> Investigate user experience issues with "Electronic Check" or offer auto-pay discounts for credit cards.</a:t>
            </a:r>
          </a:p>
          <a:p>
            <a:pPr lvl="1"/>
            <a:r>
              <a:rPr lang="en-US" b="1" dirty="0"/>
              <a:t>Targeted campaign.</a:t>
            </a:r>
            <a:r>
              <a:rPr lang="en-US" dirty="0"/>
              <a:t> The marketing team should immediately contact the </a:t>
            </a:r>
            <a:r>
              <a:rPr lang="en-US" b="1" dirty="0"/>
              <a:t>1,356 High-Risk customers</a:t>
            </a:r>
            <a:r>
              <a:rPr lang="en-US" dirty="0"/>
              <a:t> identified in the dashboard.</a:t>
            </a:r>
          </a:p>
          <a:p>
            <a:pPr lvl="1"/>
            <a:r>
              <a:rPr lang="en-US" b="1" dirty="0"/>
              <a:t>Service quality.</a:t>
            </a:r>
            <a:r>
              <a:rPr lang="en-US" dirty="0"/>
              <a:t> Review Fiber Optic infrastructure in East Africa, as these users churn frequently.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6826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458</Words>
  <Application>Microsoft Office PowerPoint</Application>
  <PresentationFormat>Widescreen</PresentationFormat>
  <Paragraphs>54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TELECOM CUSTOMER CHURN PREDICTION ANALYSIS  A machine learning pipeline for subscriber retention strategies</vt:lpstr>
      <vt:lpstr>Project overview</vt:lpstr>
      <vt:lpstr>Data preprocessing</vt:lpstr>
      <vt:lpstr>Summary statistics for numerical features</vt:lpstr>
      <vt:lpstr>Exploratory Data Analysis (Distributions) </vt:lpstr>
      <vt:lpstr>EDA - Churn Drivers</vt:lpstr>
      <vt:lpstr>Churn count by contract type</vt:lpstr>
      <vt:lpstr>Correlation heatmap </vt:lpstr>
      <vt:lpstr>Modeling Strategy</vt:lpstr>
      <vt:lpstr>Model Evaluation &amp; Results</vt:lpstr>
      <vt:lpstr>Confusion matrix (logistic regression)</vt:lpstr>
      <vt:lpstr>Confusion matrix (Random forest)</vt:lpstr>
      <vt:lpstr>Feature Importance (Key Drivers)</vt:lpstr>
      <vt:lpstr>Dashboard (Power BI)</vt:lpstr>
      <vt:lpstr>Recommendations and 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 STEVEN</dc:creator>
  <cp:lastModifiedBy>JOHN STEVEN</cp:lastModifiedBy>
  <cp:revision>1</cp:revision>
  <dcterms:created xsi:type="dcterms:W3CDTF">2025-12-12T05:46:21Z</dcterms:created>
  <dcterms:modified xsi:type="dcterms:W3CDTF">2025-12-12T06:08:45Z</dcterms:modified>
</cp:coreProperties>
</file>